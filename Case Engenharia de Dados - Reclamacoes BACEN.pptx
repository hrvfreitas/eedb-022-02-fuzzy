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370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197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789920" y="4023360"/>
            <a:ext cx="2926080" cy="2926080"/>
          </a:xfrm>
          <a:prstGeom prst="ellipse">
            <a:avLst/>
          </a:prstGeom>
          <a:solidFill>
            <a:srgbClr val="2E5AAC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ENGENHARIA DE DADOS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 BACEN + Bancos + Glassdoor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4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em Python (pandas) com ingestão em PostgreSQL, organizado nas camadas RAW → Trusted → Delivery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2011680" cy="0"/>
          </a:xfrm>
          <a:prstGeom prst="line">
            <a:avLst/>
          </a:prstGeom>
          <a:noFill/>
          <a:ln w="25400">
            <a:solidFill>
              <a:srgbClr val="2E5AA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Daniel de Souza Linhares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Yuri Alexandre Barbosa Rodrigues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Hercules Ramos Veloso de Freitas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8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PECE-</a:t>
            </a:r>
            <a:r>
              <a:rPr lang="en-US" sz="1100" dirty="0" err="1">
                <a:solidFill>
                  <a:srgbClr val="768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PoliUSP</a:t>
            </a:r>
            <a:r>
              <a:rPr lang="en-US" sz="1100" dirty="0">
                <a:solidFill>
                  <a:srgbClr val="768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Ingestão e Tratamento de Dados com Python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apresentar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case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da disciplina e escopo do projeto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1188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21671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dados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origem: Reclamações, Bancos e Empregados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61188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36676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66760" y="21671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camadas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Trusted → Delivery, em disco e no banco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61188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37673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em Python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114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tipagem, join de chaves e fuzzy matching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200400"/>
            <a:ext cx="361188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37673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114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Docker e Terraform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200400"/>
            <a:ext cx="361188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36676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66760" y="37673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final e conclusões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4114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da camada Delivery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do trabalho e como foram atendidos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3152" cy="868680"/>
          </a:xfrm>
          <a:prstGeom prst="rect">
            <a:avLst/>
          </a:prstGeom>
          <a:solidFill>
            <a:srgbClr val="1E8A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e tratamento em Python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120640" y="157276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pipeline usa pandas; nenhuma limpeza, tipagem, join ou deduplicação é feita via SQL.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73152" cy="868680"/>
          </a:xfrm>
          <a:prstGeom prst="rect">
            <a:avLst/>
          </a:prstGeom>
          <a:solidFill>
            <a:srgbClr val="1E8A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 open source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120640" y="262432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completa em PostgreSQL, com schemas raw / trusted / delivery.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73152" cy="868680"/>
          </a:xfrm>
          <a:prstGeom prst="rect">
            <a:avLst/>
          </a:prstGeom>
          <a:solidFill>
            <a:srgbClr val="1E8A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final tratada e unida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20640" y="367588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delivery.tb_reclamacoes_bancos_funcionarios reúne as 3 bases pela chave CNPJ.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73152" cy="868680"/>
          </a:xfrm>
          <a:prstGeom prst="rect">
            <a:avLst/>
          </a:prstGeom>
          <a:solidFill>
            <a:srgbClr val="1E8A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" y="472744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RAW, Trusted e Delivery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120640" y="472744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livre; Trusted e Delivery em Parquet, também replicadas como tabelas no banco.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fontes de origem, formatos e chave comum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502920"/>
          </a:xfrm>
          <a:prstGeom prst="rect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CSVs trimestrais (2021–2022)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reclamações contra instituições financeiras, divulgado pelo BACEN.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324612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delimitador ; · encoding Latin-1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611880" cy="502920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26280" y="16916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EnquadramentoInicia_v2.tsv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28346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Enquadramento (segmento prudencial S1–S5) de cada instituição, por CNPJ.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26280" y="4206240"/>
            <a:ext cx="324612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26280" y="43434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delimitador tab · encoding Latin-1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138160" y="1691640"/>
            <a:ext cx="3611880" cy="502920"/>
          </a:xfrm>
          <a:prstGeom prst="rect">
            <a:avLst/>
          </a:prstGeom>
          <a:solidFill>
            <a:srgbClr val="C77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321040" y="16916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Empregados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CSVs (Glassdoor)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28346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de funcionários das instituições financeiras.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21040" y="4206240"/>
            <a:ext cx="324612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321040" y="43434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delimitador | · encoding UTF-8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166360"/>
            <a:ext cx="10607040" cy="45720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de integração: CNPJ raiz (8 dígitos) — normalizado entre as três bases antes do cruzamento.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RAW → Trusted → Delivery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356616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383280" cy="640080"/>
          </a:xfrm>
          <a:prstGeom prst="rect">
            <a:avLst/>
          </a:prstGeom>
          <a:solidFill>
            <a:srgbClr val="5C66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816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livre (texto)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58444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data/raw/origem/ + schema raw (Postgres)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Espelho fiel das fontes — todas as colunas como texto, sem nenhum tratamento.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50208" y="3291840"/>
            <a:ext cx="466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34840" y="1737360"/>
            <a:ext cx="3383280" cy="356616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434840" y="1737360"/>
            <a:ext cx="3383280" cy="640080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434840" y="1737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2816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358444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data/trusted/*.parquet + schema trusted (Postgres)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42519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limpos, tipados, deduplicados — 3 tabelas, uma por base de origem.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36408" y="3291840"/>
            <a:ext cx="466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321040" y="1737360"/>
            <a:ext cx="3383280" cy="356616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8321040" y="1737360"/>
            <a:ext cx="3383280" cy="640080"/>
          </a:xfrm>
          <a:prstGeom prst="rect">
            <a:avLst/>
          </a:prstGeom>
          <a:solidFill>
            <a:srgbClr val="1E8A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321040" y="1737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54964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49640" y="2816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4964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49640" y="358444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data/delivery/*.parquet + schema delivery (Postgres)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49640" y="42519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final: as 3 bases unidas pela chave CNPJ, pronta para consumo.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486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tratamento (limpeza, tipagem, join, deduplicação) é feito em Python/pandas. SQL só cria os schemas.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Python do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2296" cy="987552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01_ingest_raw.py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1226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cada fonte com encoding/delimitador corretos e grava na camada RAW (disco + schema raw).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1691640"/>
            <a:ext cx="5257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82296" cy="987552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35508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02_trusted.py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11226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tipagem, normalização de CNPJ, deduplicação e join de nomes → 3 tabelas Trusted.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5257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48640" y="2862072"/>
            <a:ext cx="82296" cy="987552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" y="295351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03_delivery.py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28269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as 3 tabelas Trusted pela chave CNPJ → tabela final Delivery.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2862072"/>
            <a:ext cx="5257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080760" y="2862072"/>
            <a:ext cx="82296" cy="987552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55080" y="295351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fuzzy_match.py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28269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Correspondência aproximada de nomes (RapidFuzz) usada como fallback pelo 02_trusted.py.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5257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82296" cy="987552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22960" y="412394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4531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SQLAlchemy + espera pela disponibilidade do PostgreSQL.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4032504"/>
            <a:ext cx="5257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080760" y="4032504"/>
            <a:ext cx="82296" cy="987552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355080" y="412394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run_all.py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44531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a execução sequencial das 3 etapas do pipeline.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decisões de limpeza e integração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20700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7099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0253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de nomes de arquivo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134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"Reclamações" com bytes CP850 corrompidos — corrigida na extração.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257800" cy="120700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263640" y="17099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200253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do CNPJ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63640" y="23134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 usa zero à esquerda (03532415); Bancos/Empregados não. Padronizado antes do cruzamento.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257800" cy="120700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31520" y="3081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37413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em conglomerado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36850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bancos aparecem sem CNPJ nas Reclamações — resolvido casando pelo nome oficial em Bancos.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2971800"/>
            <a:ext cx="5257800" cy="120700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263640" y="3081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337413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Deduplicação de Bancos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63640" y="36850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CNPJs com 2 linhas; mantido o nome "- PRUDENCIAL", preservado o outro em nome_alternativo.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257800" cy="120700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31520" y="44531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74573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Unificação do Glassdoor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50566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match e match_less combinados; duplicados por CNPJ consolidados em 1 linha.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4343400"/>
            <a:ext cx="5257800" cy="120700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63640" y="44531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474573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de fuzzy matching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63640" y="50566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para nomes divergentes (sigla, acento, ordem); aceito automaticamente com score ≥ 83.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como fallback de cruzamento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cruzamento exato por nome falha — sigla, pontuação, acento ou ordem de palavras diferente — o pipeline tenta uma correspondência aproximada com RapidFuzz sobre nomes normalizados.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de origem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"BCO DO BRASIL SA"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7812" y="292608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46888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37560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37560" y="30175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pontuação, acento, caixa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19572" y="292608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2160" y="246888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89320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(RapidFuzz)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89320" y="30175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nomes oficiais de Bancos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71332" y="292608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3920" y="2468880"/>
            <a:ext cx="2514600" cy="1371600"/>
          </a:xfrm>
          <a:prstGeom prst="rect">
            <a:avLst/>
          </a:prstGeom>
          <a:solidFill>
            <a:srgbClr val="1E8A78"/>
          </a:solidFill>
          <a:ln w="12700">
            <a:solidFill>
              <a:srgbClr val="1E8A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641080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88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41080" y="30175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aceito automaticamente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10607040" cy="73152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Auditabilidade: </a:t>
            </a: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resolvidos por fuzzy ficam marcados em cnpj_origem como "fuzzy match, score=N" (em vez de "match exato"), permitindo revisão posterior.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Instituições sem CNPJ resolvido (ex.: Nubank, Stone, Inter, C6 Bank) permanecem na camada Trusted, mas ficam fora da tabela Delivery.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Docker e Terraform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 open source. Schemas raw, trusted e delivery. Carga via pandas (to_sql / read_sql_table) — sem SQL de tratamento.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6118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1E8A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containers: postgres (banco) e python (pipeline), conectados por rede Docker.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6118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C77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36676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9718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a infraestrutura e executa o pipeline completo automaticamente com terraform apply.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10607040" cy="45720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Opção manual: pip install -r requirements.txt  →  psql -f setup_database.sql  →  python3 run_all.py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requirements.txt: pandas · sqlalchemy · psycopg2-binary · pyarrow · rapidfuzz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final — camada Delivery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A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delivery.tb_reclamacoes_bancos_funcionarios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Granularidade: banco × trimestre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06040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468880"/>
            <a:ext cx="2606040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91840" y="2651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3337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468880"/>
            <a:ext cx="2606040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035040" y="2651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3337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unidas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2468880"/>
            <a:ext cx="2606040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778240" y="2651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778240" y="3337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de integração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reunido: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4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reclamações (índice e quantidades por categoria) — BACEN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4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prudencial e nome oficial do banco — enquadramento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4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de funcionários (notas, % recomendação) — Glassdoor, quando disponível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case demonstra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2296" cy="1417320"/>
          </a:xfrm>
          <a:prstGeom prst="rect">
            <a:avLst/>
          </a:prstGeom>
          <a:solidFill>
            <a:srgbClr val="1E8A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8562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100% Python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Ingestão, tratamento e união de dados sem uso de SQL para lógica de negócio.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691640"/>
            <a:ext cx="525780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82296" cy="1417320"/>
          </a:xfrm>
          <a:prstGeom prst="rect">
            <a:avLst/>
          </a:prstGeom>
          <a:solidFill>
            <a:srgbClr val="1E8A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355080" y="18562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225856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Trusted e Delivery, replicadas em disco (Parquet) e no PostgreSQL.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25780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2296" cy="1417320"/>
          </a:xfrm>
          <a:prstGeom prst="rect">
            <a:avLst/>
          </a:prstGeom>
          <a:solidFill>
            <a:srgbClr val="1E8A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" y="34564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robusta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85876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de chaves e fuzzy matching resolvem divergências reais entre fontes.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3291840"/>
            <a:ext cx="525780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080760" y="3291840"/>
            <a:ext cx="82296" cy="1417320"/>
          </a:xfrm>
          <a:prstGeom prst="rect">
            <a:avLst/>
          </a:prstGeom>
          <a:solidFill>
            <a:srgbClr val="1E8A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55080" y="34564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Reprodutível e auditável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85876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Docker automatizam o ambiente; decisões de match ficam rastreáveis.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1119</Words>
  <Application>Microsoft Office PowerPoint</Application>
  <PresentationFormat>Widescreen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Hercules Freitas</cp:lastModifiedBy>
  <cp:revision>2</cp:revision>
  <dcterms:created xsi:type="dcterms:W3CDTF">2026-08-12T17:25:22Z</dcterms:created>
  <dcterms:modified xsi:type="dcterms:W3CDTF">2026-08-12T17:33:01Z</dcterms:modified>
</cp:coreProperties>
</file>